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1C2833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164177</c:v>
                </c:pt>
                <c:pt idx="1">
                  <c:v>191754</c:v>
                </c:pt>
                <c:pt idx="2">
                  <c:v>225458</c:v>
                </c:pt>
                <c:pt idx="3">
                  <c:v>240893</c:v>
                </c:pt>
                <c:pt idx="4">
                  <c:v>255324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28-4118-9003-BE8702F610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(₹ Cr)</c:v>
                </c:pt>
              </c:strCache>
            </c:strRef>
          </c:tx>
          <c:spPr>
            <a:solidFill>
              <a:srgbClr val="9A7D0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32430</c:v>
                </c:pt>
                <c:pt idx="1">
                  <c:v>38327</c:v>
                </c:pt>
                <c:pt idx="2">
                  <c:v>42147</c:v>
                </c:pt>
                <c:pt idx="3">
                  <c:v>45908</c:v>
                </c:pt>
                <c:pt idx="4">
                  <c:v>48553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28-4118-9003-BE8702F610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62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62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627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Margin (%)</c:v>
                </c:pt>
              </c:strCache>
            </c:strRef>
          </c:tx>
          <c:spPr>
            <a:ln w="31750" cap="flat">
              <a:solidFill>
                <a:srgbClr val="1C283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2833"/>
              </a:solidFill>
              <a:ln w="9525" cap="flat">
                <a:solidFill>
                  <a:srgbClr val="1C2833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19.8</c:v>
                </c:pt>
                <c:pt idx="1">
                  <c:v>20</c:v>
                </c:pt>
                <c:pt idx="2">
                  <c:v>18.7</c:v>
                </c:pt>
                <c:pt idx="3">
                  <c:v>19.100000000000001</c:v>
                </c:pt>
                <c:pt idx="4">
                  <c:v>19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C82-47BD-8A07-190F81B78A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OPM (%)</c:v>
                </c:pt>
              </c:strCache>
            </c:strRef>
          </c:tx>
          <c:spPr>
            <a:ln w="31750" cap="flat">
              <a:solidFill>
                <a:srgbClr val="9A7D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A7D0A"/>
              </a:solidFill>
              <a:ln w="9525" cap="flat">
                <a:solidFill>
                  <a:srgbClr val="9A7D0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27.8</c:v>
                </c:pt>
                <c:pt idx="1">
                  <c:v>27.6</c:v>
                </c:pt>
                <c:pt idx="2">
                  <c:v>25.3</c:v>
                </c:pt>
                <c:pt idx="3">
                  <c:v>25.7</c:v>
                </c:pt>
                <c:pt idx="4">
                  <c:v>25.2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C82-47BD-8A07-190F81B78A5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ROE (%)</c:v>
                </c:pt>
              </c:strCache>
            </c:strRef>
          </c:tx>
          <c:spPr>
            <a:ln w="31750" cap="flat">
              <a:solidFill>
                <a:srgbClr val="4A7B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7B60"/>
              </a:solidFill>
              <a:ln w="9525" cap="flat">
                <a:solidFill>
                  <a:srgbClr val="4A7B6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37.5</c:v>
                </c:pt>
                <c:pt idx="1">
                  <c:v>42.8</c:v>
                </c:pt>
                <c:pt idx="2">
                  <c:v>46.4</c:v>
                </c:pt>
                <c:pt idx="3">
                  <c:v>50.5</c:v>
                </c:pt>
                <c:pt idx="4">
                  <c:v>51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C82-47BD-8A07-190F81B78A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62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62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627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CFO (₹ Cr)</c:v>
                </c:pt>
              </c:strCache>
            </c:strRef>
          </c:tx>
          <c:spPr>
            <a:solidFill>
              <a:srgbClr val="4A7B6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38802</c:v>
                </c:pt>
                <c:pt idx="1">
                  <c:v>39949</c:v>
                </c:pt>
                <c:pt idx="2">
                  <c:v>41965</c:v>
                </c:pt>
                <c:pt idx="3">
                  <c:v>44338</c:v>
                </c:pt>
                <c:pt idx="4">
                  <c:v>48908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37-4B4B-B2D6-5F0A70DC6D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CFI (₹ Cr)</c:v>
                </c:pt>
              </c:strCache>
            </c:strRef>
          </c:tx>
          <c:spPr>
            <a:solidFill>
              <a:srgbClr val="9A7D0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-7956</c:v>
                </c:pt>
                <c:pt idx="1">
                  <c:v>-738</c:v>
                </c:pt>
                <c:pt idx="2">
                  <c:v>548</c:v>
                </c:pt>
                <c:pt idx="3">
                  <c:v>6091</c:v>
                </c:pt>
                <c:pt idx="4">
                  <c:v>-2144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37-4B4B-B2D6-5F0A70DC6D4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CFF (₹ Cr)</c:v>
                </c:pt>
              </c:strCache>
            </c:strRef>
          </c:tx>
          <c:spPr>
            <a:solidFill>
              <a:srgbClr val="7B2D3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-32634</c:v>
                </c:pt>
                <c:pt idx="1">
                  <c:v>-33581</c:v>
                </c:pt>
                <c:pt idx="2">
                  <c:v>-47878</c:v>
                </c:pt>
                <c:pt idx="3">
                  <c:v>-48536</c:v>
                </c:pt>
                <c:pt idx="4">
                  <c:v>-47438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837-4B4B-B2D6-5F0A70DC6D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62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62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627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EPS (₹)</c:v>
                </c:pt>
              </c:strCache>
            </c:strRef>
          </c:tx>
          <c:spPr>
            <a:solidFill>
              <a:srgbClr val="1C283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87.67</c:v>
                </c:pt>
                <c:pt idx="1">
                  <c:v>104.73</c:v>
                </c:pt>
                <c:pt idx="2">
                  <c:v>115.19</c:v>
                </c:pt>
                <c:pt idx="3">
                  <c:v>126.88</c:v>
                </c:pt>
                <c:pt idx="4">
                  <c:v>134.19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A1-4597-A03B-51B29CF1AE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62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62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384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742" y="6858"/>
            <a:ext cx="3064420" cy="5143500"/>
          </a:xfrm>
          <a:prstGeom prst="rect">
            <a:avLst/>
          </a:prstGeom>
          <a:solidFill>
            <a:srgbClr val="141E26"/>
          </a:solidFill>
          <a:ln w="12700">
            <a:solidFill>
              <a:srgbClr val="141E26"/>
            </a:solidFill>
            <a:prstDash val="solid"/>
          </a:ln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sz="1100" dirty="0">
                <a:solidFill>
                  <a:schemeClr val="bg1"/>
                </a:solidFill>
              </a:rPr>
              <a:t>By – Prachi Agarwal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2996872" y="6858"/>
            <a:ext cx="54864" cy="5143500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11480" y="1298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 LTD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-36870" y="1682496"/>
            <a:ext cx="2964426" cy="0"/>
          </a:xfrm>
          <a:prstGeom prst="line">
            <a:avLst/>
          </a:prstGeom>
          <a:noFill/>
          <a:ln w="1016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810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NSE: TCS  |  BSE: 532540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1214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</a:t>
            </a: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Technology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4323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Period: FY2021 – </a:t>
            </a: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Screener.in, NSE India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30540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Microsoft Excel + Data Analysis ToolPak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4754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Internship Project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32481" y="699663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448999" y="1216743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Performance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480560" y="197510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9A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4480560" y="2788920"/>
            <a:ext cx="4114800" cy="0"/>
          </a:xfrm>
          <a:prstGeom prst="line">
            <a:avLst/>
          </a:prstGeom>
          <a:noFill/>
          <a:ln w="6350">
            <a:solidFill>
              <a:srgbClr val="6B7F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480560" y="28803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five-year empirical study of TCS across revenue growth, profitability, solvency, efficiency, valuation, and strategic outlook.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3858768"/>
            <a:ext cx="1371600" cy="822960"/>
          </a:xfrm>
          <a:prstGeom prst="rect">
            <a:avLst/>
          </a:prstGeom>
          <a:solidFill>
            <a:srgbClr val="1E3040"/>
          </a:solidFill>
          <a:ln w="6350">
            <a:solidFill>
              <a:srgbClr val="4A62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17136" y="3895344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₹2,55,324 Cr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17136" y="429768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Revenue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989320" y="3858768"/>
            <a:ext cx="1371600" cy="822960"/>
          </a:xfrm>
          <a:prstGeom prst="rect">
            <a:avLst/>
          </a:prstGeom>
          <a:solidFill>
            <a:srgbClr val="1E3040"/>
          </a:solidFill>
          <a:ln w="6350">
            <a:solidFill>
              <a:srgbClr val="4A62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25896" y="3895344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19.0%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25896" y="429768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98080" y="3858768"/>
            <a:ext cx="1371600" cy="822960"/>
          </a:xfrm>
          <a:prstGeom prst="rect">
            <a:avLst/>
          </a:prstGeom>
          <a:solidFill>
            <a:srgbClr val="1E3040"/>
          </a:solidFill>
          <a:ln w="6350">
            <a:solidFill>
              <a:srgbClr val="4A62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534656" y="3895344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0.10x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34656" y="429768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Debt-to-Equity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0292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420624"/>
            <a:ext cx="8979408" cy="82296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EAEBEC"/>
          </a:solidFill>
          <a:ln w="12700">
            <a:solidFill>
              <a:srgbClr val="EAEB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Structure of This Analysis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0960" y="45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485546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 Ltd  |  Business Analytics Internship Project  |  FY2021–FY2025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77724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39496" y="941832"/>
            <a:ext cx="438912" cy="43891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9496" y="941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9848" y="9144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Overview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9848" y="125272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profile, sector context, and selection rationale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77724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020056" y="941832"/>
            <a:ext cx="438912" cy="43891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0056" y="941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50408" y="9144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Profit Trends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50408" y="125272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growth trajectory and CAGR analysis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14884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39496" y="2313432"/>
            <a:ext cx="438912" cy="43891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39496" y="2313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69848" y="22860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9848" y="262432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Liquidity, solvency, efficiency, and valuation metrics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214884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020056" y="2313432"/>
            <a:ext cx="438912" cy="43891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20056" y="2313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50408" y="22860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50408" y="262432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matrix, linear regression, and forecasting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352044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39496" y="3685032"/>
            <a:ext cx="438912" cy="43891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39496" y="3685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69848" y="36576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Assessment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69848" y="399592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flags, risk indicators, and financial health monitor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352044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020056" y="3685032"/>
            <a:ext cx="438912" cy="43891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020056" y="3685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550408" y="36576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Insights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50408" y="399592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CXOs, investors, and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0292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420624"/>
            <a:ext cx="8979408" cy="82296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EAEBEC"/>
          </a:solidFill>
          <a:ln w="12700">
            <a:solidFill>
              <a:srgbClr val="EAEB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Snapshot — Tata Consultancy Services Ltd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0960" y="45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485546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 Ltd  |  Business Analytics Internship Project  |  FY2021–FY2025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658368"/>
            <a:ext cx="416052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749808"/>
            <a:ext cx="45720" cy="256032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6928" y="7498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024128"/>
            <a:ext cx="3886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1968</a:t>
            </a: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listed on NSE &amp; BSE in 2004, TCS is India's largest IT services company and the world's second-largest by market capitalisation.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company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Sons</a:t>
            </a: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holds approximately 72% stake. TCS operates across 55+ countries and employs ~6,07,000 professionals globally.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verticals: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(~40%), Manufacturing, Retail, Technology, Healthcare and Energy.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geographies: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(~55%), Europe (~28%), Asia-Pacific (~17%).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749808"/>
            <a:ext cx="45720" cy="256032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73168" y="7498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Corporate Facts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042416"/>
            <a:ext cx="4251960" cy="384048"/>
          </a:xfrm>
          <a:prstGeom prst="rect">
            <a:avLst/>
          </a:prstGeom>
          <a:solidFill>
            <a:srgbClr val="F6F7F8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36592" y="10607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/ BSE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01968" y="10607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 /  532540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42519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36592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01968" y="14813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1968  |  Listed 2004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883664"/>
            <a:ext cx="4251960" cy="384048"/>
          </a:xfrm>
          <a:prstGeom prst="rect">
            <a:avLst/>
          </a:prstGeom>
          <a:solidFill>
            <a:srgbClr val="F6F7F8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36592" y="19019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 (FY2025)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01968" y="19019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~₹13,05,000 Cr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304288"/>
            <a:ext cx="42519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36592" y="23225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Revenue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01968" y="232257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₹2,55,324 Crores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724912"/>
            <a:ext cx="4251960" cy="384048"/>
          </a:xfrm>
          <a:prstGeom prst="rect">
            <a:avLst/>
          </a:prstGeom>
          <a:solidFill>
            <a:srgbClr val="F6F7F8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36592" y="2743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01968" y="27432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~6,07,354 globally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145536"/>
            <a:ext cx="42519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36592" y="31638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Rating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01968" y="316382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CRISIL AAA (highest)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566160"/>
            <a:ext cx="4251960" cy="384048"/>
          </a:xfrm>
          <a:prstGeom prst="rect">
            <a:avLst/>
          </a:prstGeom>
          <a:solidFill>
            <a:srgbClr val="F6F7F8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36592" y="35844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01968" y="35844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globally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986784"/>
            <a:ext cx="425196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36592" y="4005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01968" y="40050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~3.5–4.0% (FY2025)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0292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420624"/>
            <a:ext cx="8979408" cy="82296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EAEBEC"/>
          </a:solidFill>
          <a:ln w="12700">
            <a:solidFill>
              <a:srgbClr val="EAEB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Net Profit Growth  |  FY2021 – FY2025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0960" y="45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485546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 Ltd  |  Business Analytics Internship Project  |  FY2021–FY2025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621792"/>
            <a:ext cx="199339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621792"/>
            <a:ext cx="1993392" cy="64008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731520"/>
            <a:ext cx="181051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₹2,55,324 Cr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3192" y="1132027"/>
            <a:ext cx="18470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Revenue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68880" y="621792"/>
            <a:ext cx="199339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468880" y="621792"/>
            <a:ext cx="1993392" cy="64008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560320" y="731520"/>
            <a:ext cx="181051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11.7%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42032" y="1132027"/>
            <a:ext cx="18470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CAGR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17720" y="621792"/>
            <a:ext cx="199339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17720" y="621792"/>
            <a:ext cx="1993392" cy="64008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09160" y="731520"/>
            <a:ext cx="181051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₹48,553 Cr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90872" y="1132027"/>
            <a:ext cx="18470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Net Profit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66560" y="621792"/>
            <a:ext cx="199339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766560" y="621792"/>
            <a:ext cx="1993392" cy="64008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58000" y="731520"/>
            <a:ext cx="181051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10.6%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39712" y="1132027"/>
            <a:ext cx="18470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CAGR</a:t>
            </a:r>
            <a:endParaRPr lang="en-US" sz="8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320040" y="1572768"/>
          <a:ext cx="576072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6263640" y="1572768"/>
            <a:ext cx="45720" cy="256032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373368" y="15727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Year-on-Year Growth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01952"/>
          <a:ext cx="2651760" cy="2761490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2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Net Profit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2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C2833"/>
                          </a:solidFill>
                        </a:rPr>
                        <a:t>FY2022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₹1,91,754 Cr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₹38,327 Cr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2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C2833"/>
                          </a:solidFill>
                        </a:rPr>
                        <a:t>FY2023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₹2,25,458 Cr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₹42,147 Cr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2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C2833"/>
                          </a:solidFill>
                        </a:rPr>
                        <a:t>FY2024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₹2,40,893 Cr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₹45,908 Cr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2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C2833"/>
                          </a:solidFill>
                        </a:rPr>
                        <a:t>FY2025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₹2,55,324 Cr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₹48,553 Cr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0292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420624"/>
            <a:ext cx="8979408" cy="82296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EAEBEC"/>
          </a:solidFill>
          <a:ln w="12700">
            <a:solidFill>
              <a:srgbClr val="EAEB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 Analysis  |  Margins &amp; Return Ratios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0960" y="45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485546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 Ltd  |  Business Analytics Internship Project  |  FY2021–FY2025</a:t>
            </a:r>
            <a:endParaRPr lang="en-US" sz="8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621792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897880" y="658368"/>
            <a:ext cx="45720" cy="256032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007608" y="6583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Ratios at a Glance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969264"/>
          <a:ext cx="3017520" cy="3749040"/>
        </p:xfrm>
        <a:graphic>
          <a:graphicData uri="http://schemas.openxmlformats.org/drawingml/2006/table">
            <a:tbl>
              <a:tblPr/>
              <a:tblGrid>
                <a:gridCol w="1389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FY2021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Net Profit Margin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19.8%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7D0A"/>
                          </a:solidFill>
                        </a:rPr>
                        <a:t>19.0%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EBITDA Margin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30.3%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7D0A"/>
                          </a:solidFill>
                        </a:rPr>
                        <a:t>27.7%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Return on Equity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37.5%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7D0A"/>
                          </a:solidFill>
                        </a:rPr>
                        <a:t>51.0%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Return on Assets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24.9%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7D0A"/>
                          </a:solidFill>
                        </a:rPr>
                        <a:t>30.6%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Return on Capital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30.5%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7D0A"/>
                          </a:solidFill>
                        </a:rPr>
                        <a:t>40.6%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Current Ratio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2.20x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7D0A"/>
                          </a:solidFill>
                        </a:rPr>
                        <a:t>1.89x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D/E Ratio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0.09x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7D0A"/>
                          </a:solidFill>
                        </a:rPr>
                        <a:t>0.10x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Interest Coverage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68.7x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7D0A"/>
                          </a:solidFill>
                        </a:rPr>
                        <a:t>82.1x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320040" y="3913632"/>
            <a:ext cx="5394960" cy="658368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457200" y="393192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ROE has expanded from 37.5% to 51.0% over five years — driven by earnings growth and capital return through dividends and buybacks. Net margins remain exceptionally stable at ~19%, confirming strong pricing power.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0292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420624"/>
            <a:ext cx="8979408" cy="82296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EAEBEC"/>
          </a:solidFill>
          <a:ln w="12700">
            <a:solidFill>
              <a:srgbClr val="EAEB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FY2025 KPI Dashboard  |  Key Performance Indicators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0960" y="45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485546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 Ltd  |  Business Analytics Internship Project  |  FY2021–FY2025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658368"/>
            <a:ext cx="2029968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658368"/>
            <a:ext cx="2029968" cy="64008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7472" y="74980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₹2,55,324 Cr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" y="143560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(Net Sales)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50592" y="658368"/>
            <a:ext cx="2029968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450592" y="658368"/>
            <a:ext cx="2029968" cy="64008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523744" y="74980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₹48,553 Cr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05456" y="143560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(PAT)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26864" y="658368"/>
            <a:ext cx="2029968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26864" y="658368"/>
            <a:ext cx="2029968" cy="64008"/>
          </a:xfrm>
          <a:prstGeom prst="rect">
            <a:avLst/>
          </a:prstGeom>
          <a:solidFill>
            <a:srgbClr val="4A6274"/>
          </a:solidFill>
          <a:ln w="12700">
            <a:solidFill>
              <a:srgbClr val="4A62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00016" y="74980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81728" y="143560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Margin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03136" y="658368"/>
            <a:ext cx="2029968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803136" y="658368"/>
            <a:ext cx="2029968" cy="64008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76288" y="74980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58000" y="143560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Equity (ROE)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075688"/>
            <a:ext cx="2029968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74320" y="2075688"/>
            <a:ext cx="2029968" cy="64008"/>
          </a:xfrm>
          <a:prstGeom prst="rect">
            <a:avLst/>
          </a:prstGeom>
          <a:solidFill>
            <a:srgbClr val="4A7B60"/>
          </a:solidFill>
          <a:ln w="12700">
            <a:solidFill>
              <a:srgbClr val="4A7B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7472" y="216712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₹134.19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9184" y="28529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Per Share (EPS)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50592" y="2075688"/>
            <a:ext cx="2029968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450592" y="2075688"/>
            <a:ext cx="2029968" cy="64008"/>
          </a:xfrm>
          <a:prstGeom prst="rect">
            <a:avLst/>
          </a:prstGeom>
          <a:solidFill>
            <a:srgbClr val="6B7F8E"/>
          </a:solidFill>
          <a:ln w="12700">
            <a:solidFill>
              <a:srgbClr val="6B7F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523744" y="216712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0.10x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505456" y="28529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Debt-to-Equity Ratio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26864" y="2075688"/>
            <a:ext cx="2029968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626864" y="2075688"/>
            <a:ext cx="2029968" cy="64008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00016" y="216712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₹48,908 Cr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681728" y="28529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from Operations (CFO)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803136" y="2075688"/>
            <a:ext cx="2029968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803136" y="2075688"/>
            <a:ext cx="2029968" cy="64008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876288" y="216712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82.1x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858000" y="28529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Coverage Ratio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3493008"/>
            <a:ext cx="2029968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74320" y="3493008"/>
            <a:ext cx="2029968" cy="64008"/>
          </a:xfrm>
          <a:prstGeom prst="rect">
            <a:avLst/>
          </a:prstGeom>
          <a:solidFill>
            <a:srgbClr val="4A6274"/>
          </a:solidFill>
          <a:ln w="12700">
            <a:solidFill>
              <a:srgbClr val="4A62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47472" y="358444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₹3,606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329184" y="4270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(Year-End ₹)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450592" y="3493008"/>
            <a:ext cx="2029968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450592" y="3493008"/>
            <a:ext cx="2029968" cy="64008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523744" y="358444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26.9x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2505456" y="4270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Price-to-Earnings (P/E)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26864" y="3493008"/>
            <a:ext cx="2029968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626864" y="3493008"/>
            <a:ext cx="2029968" cy="64008"/>
          </a:xfrm>
          <a:prstGeom prst="rect">
            <a:avLst/>
          </a:prstGeom>
          <a:solidFill>
            <a:srgbClr val="4A7B60"/>
          </a:solidFill>
          <a:ln w="12700">
            <a:solidFill>
              <a:srgbClr val="4A7B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700016" y="358444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94.0%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4681728" y="4270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Payout Ratio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03136" y="3493008"/>
            <a:ext cx="2029968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803136" y="3493008"/>
            <a:ext cx="2029968" cy="64008"/>
          </a:xfrm>
          <a:prstGeom prst="rect">
            <a:avLst/>
          </a:prstGeom>
          <a:solidFill>
            <a:srgbClr val="6B7F8E"/>
          </a:solidFill>
          <a:ln w="12700">
            <a:solidFill>
              <a:srgbClr val="6B7F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876288" y="3584448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~₹13,05,000 Cr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6858000" y="4270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Capitalisation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0292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420624"/>
            <a:ext cx="8979408" cy="82296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EAEBEC"/>
          </a:solidFill>
          <a:ln w="12700">
            <a:solidFill>
              <a:srgbClr val="EAEB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Flow Analysis  |  FY2021 – FY2025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0960" y="45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485546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 Ltd  |  Business Analytics Internship Project  |  FY2021–FY2025</a:t>
            </a:r>
            <a:endParaRPr lang="en-US" sz="8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621792"/>
          <a:ext cx="55778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6080760" y="658368"/>
            <a:ext cx="45720" cy="256032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190488" y="6583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80760" y="987552"/>
            <a:ext cx="2834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080760" y="987552"/>
            <a:ext cx="54864" cy="1188720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236208" y="107899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CFO Strength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36208" y="135331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cash flow has grown from ₹38,802 Cr in FY2021 to ₹48,908 Cr in FY2025 — a CAGR of 5.9%. CFO consistently exceeds net profit (ratio &gt;1.0x), confirming high earnings quality.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80760" y="2313432"/>
            <a:ext cx="2834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080760" y="2313432"/>
            <a:ext cx="54864" cy="1188720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236208" y="24048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Returns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36208" y="267919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from financing (CFF) is negative every year, reflecting dividend payments and share buybacks totalling ₹47,438 Cr in FY2025 alone — a shareholder-first capital allocation policy.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080760" y="3639312"/>
            <a:ext cx="28346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080760" y="3639312"/>
            <a:ext cx="54864" cy="1188720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236208" y="373075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Activity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36208" y="400507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CFI turned positive in FY2023–24 due to liquidation of short-term investments. FY2025 saw renewed investment outflows — consistent with maintaining the asset base.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0292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420624"/>
            <a:ext cx="8979408" cy="82296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EAEBEC"/>
          </a:solidFill>
          <a:ln w="12700">
            <a:solidFill>
              <a:srgbClr val="EAEB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Analysis  |  Regression &amp; Forecast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0960" y="45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485546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 Ltd  |  Business Analytics Internship Project  |  FY2021–FY2025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31761" y="60409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 Model  —  Y = m · X + b  |  Year Index: FY2021 - FY2025 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360777"/>
              </p:ext>
            </p:extLst>
          </p:nvPr>
        </p:nvGraphicFramePr>
        <p:xfrm>
          <a:off x="320040" y="950976"/>
          <a:ext cx="8595360" cy="973689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Slope (m)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Intercept (b)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R² Value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FY2026 Forecast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FY2027 Forecast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Revenue (₹ Cr)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23,143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1,46,091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0.9689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7D0A"/>
                          </a:solidFill>
                        </a:rPr>
                        <a:t>₹2,84,951 Cr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7D0A"/>
                          </a:solidFill>
                        </a:rPr>
                        <a:t>₹3,08,094 Cr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3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Net Profit (₹ Cr)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3,983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29,525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0.9796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7D0A"/>
                          </a:solidFill>
                        </a:rPr>
                        <a:t>₹53,421 Cr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7D0A"/>
                          </a:solidFill>
                        </a:rPr>
                        <a:t>₹57,404 Cr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20040" y="20299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applied: FY2026 Revenue = 23,143 × 6 + 1,46,091 = 2,84,951  |  FY2027 = 23,143 × 7 + 1,46,091 = 3,08,094  |  Both R² values exceed 0.96 — very strong fit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29768" y="2395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3-Year Moving Average  —  Revenue &amp; Net Profit Smoothing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706624"/>
          <a:ext cx="7680960" cy="93268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FY2021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FY2022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FY2023 (MA)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FY2024 (MA)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FY2025 (MA)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Revenue — 3-Yr MA (₹ Cr)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7F8C8D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7F8C8D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7D0A"/>
                          </a:solidFill>
                        </a:rPr>
                        <a:t>1,93,796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7D0A"/>
                          </a:solidFill>
                        </a:rPr>
                        <a:t>2,19,368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7D0A"/>
                          </a:solidFill>
                        </a:rPr>
                        <a:t>2,40,558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Net Profit — 3-Yr MA (₹ Cr)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7F8C8D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7F8C8D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7D0A"/>
                          </a:solidFill>
                        </a:rPr>
                        <a:t>37,635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7D0A"/>
                          </a:solidFill>
                        </a:rPr>
                        <a:t>42,127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9A7D0A"/>
                          </a:solidFill>
                        </a:rPr>
                        <a:t>45,536</a:t>
                      </a:r>
                      <a:endParaRPr lang="en-US" sz="10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320040" y="3767328"/>
            <a:ext cx="8595360" cy="80467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566928" y="38221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Highlights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457200" y="4059936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Net Profit: r = 0.998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— profits scale tightly with revenue.   </a:t>
            </a:r>
            <a:r>
              <a:rPr lang="en-US" sz="95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 CFO: r = 0.985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converts efficiently into cash.   </a:t>
            </a:r>
            <a:r>
              <a:rPr lang="en-US" sz="95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vs CFO: r = 0.976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high quality of TCS's reported earnings.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1475"/>
            <a:ext cx="8979408" cy="50292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420624"/>
            <a:ext cx="8979408" cy="82296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2880" y="4912393"/>
            <a:ext cx="9125122" cy="231108"/>
          </a:xfrm>
          <a:prstGeom prst="rect">
            <a:avLst/>
          </a:prstGeom>
          <a:solidFill>
            <a:srgbClr val="EAEBEC"/>
          </a:solidFill>
          <a:ln w="12700">
            <a:solidFill>
              <a:srgbClr val="EAEB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975104" y="-6047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Assessment  |  Financial Health Monitor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0960" y="45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485546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 Ltd  |  Business Analytics Internship Project  |  FY2021–FY2025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658368"/>
            <a:ext cx="4224528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92424" y="786384"/>
            <a:ext cx="1024128" cy="274320"/>
          </a:xfrm>
          <a:prstGeom prst="rect">
            <a:avLst/>
          </a:prstGeom>
          <a:solidFill>
            <a:srgbClr val="E4EFE4"/>
          </a:solidFill>
          <a:ln w="6350">
            <a:solidFill>
              <a:srgbClr val="4A7B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92424" y="78638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7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" y="749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Debt-to-Equity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" y="10241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0.09x → 0.10x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" y="1225296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near-zero. No leverage risk. TCS is effectively debt-free.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27448" y="658368"/>
            <a:ext cx="4224528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799832" y="786384"/>
            <a:ext cx="1024128" cy="274320"/>
          </a:xfrm>
          <a:prstGeom prst="rect">
            <a:avLst/>
          </a:prstGeom>
          <a:solidFill>
            <a:srgbClr val="E4EFE4"/>
          </a:solidFill>
          <a:ln w="6350">
            <a:solidFill>
              <a:srgbClr val="4A7B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99832" y="78638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7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73752" y="749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 Coverage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73752" y="10241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68.7x → 82.1x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73752" y="1225296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coverage. Operating profit is 82x the interest expense in FY2025.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1737360"/>
            <a:ext cx="4224528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392424" y="1865376"/>
            <a:ext cx="1024128" cy="274320"/>
          </a:xfrm>
          <a:prstGeom prst="rect">
            <a:avLst/>
          </a:prstGeom>
          <a:solidFill>
            <a:srgbClr val="E4EFE4"/>
          </a:solidFill>
          <a:ln w="6350">
            <a:solidFill>
              <a:srgbClr val="4A7B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92424" y="18653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7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" y="1828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Profit Margin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" y="2103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 → 19.0%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" y="2304288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 a tight 18.7–20.0% band across all five years — strong pricing power.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27448" y="1737360"/>
            <a:ext cx="4224528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799832" y="1865376"/>
            <a:ext cx="1024128" cy="274320"/>
          </a:xfrm>
          <a:prstGeom prst="rect">
            <a:avLst/>
          </a:prstGeom>
          <a:solidFill>
            <a:srgbClr val="F5F0DC"/>
          </a:solidFill>
          <a:ln w="635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799832" y="18653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73752" y="1828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Growth (YoY)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73752" y="21031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 → 5.9%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73752" y="2304288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Decelerating from FY22 peak. Reflects macro headwinds — not market share loss.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2816352"/>
            <a:ext cx="4224528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392424" y="2944368"/>
            <a:ext cx="1024128" cy="274320"/>
          </a:xfrm>
          <a:prstGeom prst="rect">
            <a:avLst/>
          </a:prstGeom>
          <a:solidFill>
            <a:srgbClr val="E4EFE4"/>
          </a:solidFill>
          <a:ln w="6350">
            <a:solidFill>
              <a:srgbClr val="4A7B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392424" y="29443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7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" y="2907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CFO / Net Profit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6344" y="31821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1.20x → 1.01x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6344" y="3383280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above 1.0x — all reported profits are backed by real operating cash.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27448" y="2816352"/>
            <a:ext cx="4224528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799832" y="2944368"/>
            <a:ext cx="1024128" cy="274320"/>
          </a:xfrm>
          <a:prstGeom prst="rect">
            <a:avLst/>
          </a:prstGeom>
          <a:solidFill>
            <a:srgbClr val="F5F0DC"/>
          </a:solidFill>
          <a:ln w="635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799832" y="29443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73752" y="2907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Debtor Days (DSO)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73752" y="31821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→ 84 days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73752" y="3383280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trend over 5 years. Receivables growing faster than revenue — monitor closely.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8594" y="3864372"/>
            <a:ext cx="4224528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3392424" y="4023360"/>
            <a:ext cx="1024128" cy="274320"/>
          </a:xfrm>
          <a:prstGeom prst="rect">
            <a:avLst/>
          </a:prstGeom>
          <a:solidFill>
            <a:srgbClr val="F5F0DC"/>
          </a:solidFill>
          <a:ln w="635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392424" y="402336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6344" y="3986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Dividend Payout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6344" y="42611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→ 94%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6344" y="446227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High. FY2023 exceeded 100% due to special dividend — funded from reserves, not recurring.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36592" y="3849624"/>
            <a:ext cx="4224528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1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7799832" y="4023360"/>
            <a:ext cx="1024128" cy="274320"/>
          </a:xfrm>
          <a:prstGeom prst="rect">
            <a:avLst/>
          </a:prstGeom>
          <a:solidFill>
            <a:srgbClr val="F5F0DC"/>
          </a:solidFill>
          <a:ln w="635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799832" y="402336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73752" y="3986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Borrowings Growth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873752" y="42611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→ +17% FY25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73752" y="446227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increase relates to lease liabilities under Ind AS 116 — not financial debt.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0292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420624"/>
            <a:ext cx="8979408" cy="82296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EAEBEC"/>
          </a:solidFill>
          <a:ln w="12700">
            <a:solidFill>
              <a:srgbClr val="EAEB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Analysis  |  EPS Growth &amp; Market Ratios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0960" y="45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485546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 Ltd  |  Business Analytics Internship Project  |  FY2021–FY2025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658368"/>
            <a:ext cx="45720" cy="256032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29768" y="6583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4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 &amp; Market Data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50976"/>
          <a:ext cx="5303520" cy="246887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26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FY2021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FY2022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FY2023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EPS (₹)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87.67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104.73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115.19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126.88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A7D0A"/>
                          </a:solidFill>
                        </a:rPr>
                        <a:t>134.19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Stock Price (₹)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3,178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3,740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3,206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3,876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A7D0A"/>
                          </a:solidFill>
                        </a:rPr>
                        <a:t>3,606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P/E Ratio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36.2x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35.7x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27.8x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30.6x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A7D0A"/>
                          </a:solidFill>
                        </a:rPr>
                        <a:t>26.9x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P/B Ratio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13.6x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15.3x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13.1x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15.5x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A7D0A"/>
                          </a:solidFill>
                        </a:rPr>
                        <a:t>13.9x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Div. Payout %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43.4%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41.1%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99.9%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57.6%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A7D0A"/>
                          </a:solidFill>
                        </a:rPr>
                        <a:t>94.0%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Mkt Cap (₹ Cr)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11,75,932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13,68,099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11,73,097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14,02,629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A7D0A"/>
                          </a:solidFill>
                        </a:rPr>
                        <a:t>13,04,960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Chart 0"/>
          <p:cNvGraphicFramePr/>
          <p:nvPr/>
        </p:nvGraphicFramePr>
        <p:xfrm>
          <a:off x="5806440" y="621792"/>
          <a:ext cx="31089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9"/>
          <p:cNvSpPr/>
          <p:nvPr/>
        </p:nvSpPr>
        <p:spPr>
          <a:xfrm>
            <a:off x="320040" y="3566160"/>
            <a:ext cx="2724912" cy="9144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320040" y="3566160"/>
            <a:ext cx="2724912" cy="64008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448056" y="36210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CAGR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48056" y="3822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~11.2%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48056" y="4169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FY2021 to FY2025 — strong compounding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200400" y="3566160"/>
            <a:ext cx="2724912" cy="9144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3200400" y="3566160"/>
            <a:ext cx="2724912" cy="64008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3328416" y="36210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(FY2025)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328416" y="3822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26.9x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328416" y="4169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5-yr avg — moderate valuation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6080760" y="3566160"/>
            <a:ext cx="2724912" cy="9144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6080760" y="3566160"/>
            <a:ext cx="2724912" cy="64008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6208776" y="36210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6208776" y="3822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 / ACCUMULATE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208776" y="4169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dips below 22x fwd earnings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0292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420624"/>
            <a:ext cx="8979408" cy="82296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EAEBEC"/>
          </a:solidFill>
          <a:ln w="12700">
            <a:solidFill>
              <a:srgbClr val="EAEB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45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Insights &amp; Recommendations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0960" y="457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485546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 Ltd  |  Business Analytics Internship Project  |  FY2021–FY2025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621792"/>
            <a:ext cx="2788920" cy="676656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02336" y="64008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CXOs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" y="93268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Direction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389888"/>
            <a:ext cx="2788920" cy="78638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1389888"/>
            <a:ext cx="45720" cy="786384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02336" y="1444752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Re-accelerate revenue via GenAI platform services and hyperscaler partnerships targeting 13–15% growth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258568"/>
            <a:ext cx="2788920" cy="786384"/>
          </a:xfrm>
          <a:prstGeom prst="rect">
            <a:avLst/>
          </a:prstGeom>
          <a:solidFill>
            <a:srgbClr val="F6F7F8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258568"/>
            <a:ext cx="45720" cy="786384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02336" y="2313432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25–27% operating margin band through automation and offshore delivery optimisation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127248"/>
            <a:ext cx="2788920" cy="78638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3127248"/>
            <a:ext cx="45720" cy="786384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02336" y="3182112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structured capital return: dividends + buybacks calibrated below 90% payout ratio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995928"/>
            <a:ext cx="2788920" cy="786384"/>
          </a:xfrm>
          <a:prstGeom prst="rect">
            <a:avLst/>
          </a:prstGeom>
          <a:solidFill>
            <a:srgbClr val="F6F7F8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4320" y="3995928"/>
            <a:ext cx="45720" cy="786384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02336" y="4050792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 workforce in GenAI, cloud-native development, and cybersecurity to defend competitive moat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82112" y="621792"/>
            <a:ext cx="2788920" cy="676656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10128" y="64008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Investors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10128" y="93268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Return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82112" y="1389888"/>
            <a:ext cx="2788920" cy="78638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182112" y="1389888"/>
            <a:ext cx="45720" cy="786384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310128" y="1444752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Hold / Accumulate on price weakness below 22x forward earnings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82112" y="2258568"/>
            <a:ext cx="2788920" cy="786384"/>
          </a:xfrm>
          <a:prstGeom prst="rect">
            <a:avLst/>
          </a:prstGeom>
          <a:solidFill>
            <a:srgbClr val="F6F7F8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182112" y="2258568"/>
            <a:ext cx="45720" cy="786384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310128" y="2313432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of ~3.5–4.0% provides an income floor for long-term portfolios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82112" y="3127248"/>
            <a:ext cx="2788920" cy="78638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182112" y="3127248"/>
            <a:ext cx="45720" cy="786384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310128" y="3182112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CFO/PAT &gt; 1.0x confirms high earnings quality — no accrual or recognition concerns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182112" y="3995928"/>
            <a:ext cx="2788920" cy="786384"/>
          </a:xfrm>
          <a:prstGeom prst="rect">
            <a:avLst/>
          </a:prstGeom>
          <a:solidFill>
            <a:srgbClr val="F6F7F8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182112" y="3995928"/>
            <a:ext cx="45720" cy="786384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310128" y="4050792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prolonged BFSI slowdown and North America budget compression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89904" y="621792"/>
            <a:ext cx="2788920" cy="676656"/>
          </a:xfrm>
          <a:prstGeom prst="rect">
            <a:avLst/>
          </a:prstGeom>
          <a:solidFill>
            <a:srgbClr val="4A6274"/>
          </a:solidFill>
          <a:ln w="12700">
            <a:solidFill>
              <a:srgbClr val="4A62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217920" y="64008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Management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17920" y="93268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FC9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Priorities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89904" y="1389888"/>
            <a:ext cx="2788920" cy="78638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089904" y="1389888"/>
            <a:ext cx="45720" cy="786384"/>
          </a:xfrm>
          <a:prstGeom prst="rect">
            <a:avLst/>
          </a:prstGeom>
          <a:solidFill>
            <a:srgbClr val="4A6274"/>
          </a:solidFill>
          <a:ln w="12700">
            <a:solidFill>
              <a:srgbClr val="4A62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217920" y="1444752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debtor days from 84 to below 75 through tighter contract payment terms and collections focus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89904" y="2258568"/>
            <a:ext cx="2788920" cy="786384"/>
          </a:xfrm>
          <a:prstGeom prst="rect">
            <a:avLst/>
          </a:prstGeom>
          <a:solidFill>
            <a:srgbClr val="F6F7F8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089904" y="2258568"/>
            <a:ext cx="45720" cy="786384"/>
          </a:xfrm>
          <a:prstGeom prst="rect">
            <a:avLst/>
          </a:prstGeom>
          <a:solidFill>
            <a:srgbClr val="4A6274"/>
          </a:solidFill>
          <a:ln w="12700">
            <a:solidFill>
              <a:srgbClr val="4A62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217920" y="2313432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selective M&amp;A in digital engineering and cybersecurity to accelerate capabilities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89904" y="3127248"/>
            <a:ext cx="2788920" cy="78638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089904" y="3127248"/>
            <a:ext cx="45720" cy="786384"/>
          </a:xfrm>
          <a:prstGeom prst="rect">
            <a:avLst/>
          </a:prstGeom>
          <a:solidFill>
            <a:srgbClr val="4A6274"/>
          </a:solidFill>
          <a:ln w="12700">
            <a:solidFill>
              <a:srgbClr val="4A62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217920" y="3182112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revenue beyond BFSI and North America into Manufacturing, Healthcare, and MEA markets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89904" y="3995928"/>
            <a:ext cx="2788920" cy="786384"/>
          </a:xfrm>
          <a:prstGeom prst="rect">
            <a:avLst/>
          </a:prstGeom>
          <a:solidFill>
            <a:srgbClr val="F6F7F8"/>
          </a:solidFill>
          <a:ln w="5080">
            <a:solidFill>
              <a:srgbClr val="DDE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089904" y="3995928"/>
            <a:ext cx="45720" cy="786384"/>
          </a:xfrm>
          <a:prstGeom prst="rect">
            <a:avLst/>
          </a:prstGeom>
          <a:solidFill>
            <a:srgbClr val="4A6274"/>
          </a:solidFill>
          <a:ln w="12700">
            <a:solidFill>
              <a:srgbClr val="4A62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217920" y="4050792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50–100 bps margin recovery through AI-assisted testing and cloud infrastructure migration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1E26"/>
          </a:solidFill>
          <a:ln w="12700">
            <a:solidFill>
              <a:srgbClr val="141E2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6528816" y="0"/>
            <a:ext cx="54864" cy="5143500"/>
          </a:xfrm>
          <a:prstGeom prst="rect">
            <a:avLst/>
          </a:prstGeom>
          <a:solidFill>
            <a:srgbClr val="9A7D0A"/>
          </a:solidFill>
          <a:ln w="12700">
            <a:solidFill>
              <a:srgbClr val="9A7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A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5943600" cy="0"/>
          </a:xfrm>
          <a:prstGeom prst="line">
            <a:avLst/>
          </a:prstGeom>
          <a:noFill/>
          <a:ln w="6350">
            <a:solidFill>
              <a:srgbClr val="6B7F8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5943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EC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presents a compelling profile as a high-quality, low-risk compounder — delivering consistent revenue growth, exceptional capital returns, and fortress-grade balance sheet strength across five consecutive years.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CAGR: 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93392" y="193852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11.7% — consistent scale-up across all five years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43230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CAGR: 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93392" y="243230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 — earnings compounding at double-digit rate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Sheet: 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93392" y="292608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D/E of 0.10x — virtually debt-free enterprise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41985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Quality: 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93392" y="3419856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CFO/PAT &gt; 1.0x every year — fully cash-backed profits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91363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Expansion: 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93392" y="391363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 → 51.0% — superior capital efficiency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7365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Hold / Accumulate on price weakness. Primary risk: sustained BFSI and North America IT spending slowdown.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56832" y="5029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₹2,55,324 Cr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56832" y="10515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Revenue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766560" y="1472184"/>
            <a:ext cx="2011680" cy="0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56832" y="16184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₹48,908 Cr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656832" y="216712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from Ops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766560" y="2587752"/>
            <a:ext cx="2011680" cy="0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656832" y="273405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51.0%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656832" y="328269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(FY2025</a:t>
            </a:r>
            <a:r>
              <a:rPr lang="en-US" sz="900" dirty="0">
                <a:solidFill>
                  <a:srgbClr val="9B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3703320"/>
            <a:ext cx="2011680" cy="0"/>
          </a:xfrm>
          <a:prstGeom prst="line">
            <a:avLst/>
          </a:prstGeom>
          <a:noFill/>
          <a:ln w="5080">
            <a:solidFill>
              <a:srgbClr val="4A62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656832" y="384962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A7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0.10x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656832" y="439826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Debt-to-Equity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56832" y="47365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NSE: TCS  |  FY2021–FY2025</a:t>
            </a:r>
            <a:endParaRPr lang="en-US" sz="7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Internship Project</a:t>
            </a:r>
            <a:endParaRPr lang="en-US" sz="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1643</Words>
  <Application>Microsoft Office PowerPoint</Application>
  <PresentationFormat>On-screen Show (16:9)</PresentationFormat>
  <Paragraphs>360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Financial Performance Analysis FY2021–FY2025</dc:title>
  <dc:subject>Comprehensive Financial Analysis</dc:subject>
  <dc:creator>Business Analytics — Internship Project</dc:creator>
  <cp:lastModifiedBy>Prachi Agarwal</cp:lastModifiedBy>
  <cp:revision>3</cp:revision>
  <dcterms:created xsi:type="dcterms:W3CDTF">2026-04-11T10:10:41Z</dcterms:created>
  <dcterms:modified xsi:type="dcterms:W3CDTF">2026-04-11T10:56:21Z</dcterms:modified>
</cp:coreProperties>
</file>